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82880" y="4206240"/>
            <a:ext cx="11841480" cy="2331720"/>
          </a:xfrm>
          <a:prstGeom prst="rect">
            <a:avLst/>
          </a:prstGeom>
          <a:solidFill>
            <a:srgbClr val="EAF6EE"/>
          </a:solidFill>
          <a:ln>
            <a:solidFill>
              <a:srgbClr val="EAF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lIns="76200"/>
          <a:lstStyle/>
          <a:p>
            <a:pPr algn="l"/>
            <a:r>
              <a:rPr sz="1200" b="1">
                <a:solidFill>
                  <a:srgbClr val="404040"/>
                </a:solidFill>
                <a:latin typeface="Arial"/>
              </a:rPr>
              <a:t>Phase 2   Verification  —  deterministic, LLM-free  (pass → deploy / fail → repair or reject, fail-closed)</a:t>
            </a:r>
          </a:p>
        </p:txBody>
      </p:sp>
      <p:sp>
        <p:nvSpPr>
          <p:cNvPr id="2" name="Rectangle 1"/>
          <p:cNvSpPr/>
          <p:nvPr/>
        </p:nvSpPr>
        <p:spPr>
          <a:xfrm>
            <a:off x="182880" y="713232"/>
            <a:ext cx="11841480" cy="1783080"/>
          </a:xfrm>
          <a:prstGeom prst="rect">
            <a:avLst/>
          </a:prstGeom>
          <a:solidFill>
            <a:srgbClr val="EAF2FB"/>
          </a:solidFill>
          <a:ln>
            <a:solidFill>
              <a:srgbClr val="EA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lIns="76200"/>
          <a:lstStyle/>
          <a:p>
            <a:pPr algn="l"/>
            <a:r>
              <a:rPr sz="1200" b="1">
                <a:solidFill>
                  <a:srgbClr val="404040"/>
                </a:solidFill>
                <a:latin typeface="Arial"/>
              </a:rPr>
              <a:t>Phase 1   Generation  —  on-device LLM (≤9B, 4-bit, no cloud)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43000"/>
            <a:ext cx="1371600" cy="9601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NL command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end-user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0161" y="1143000"/>
            <a:ext cx="1371600" cy="960120"/>
          </a:xfrm>
          <a:prstGeom prst="roundRect">
            <a:avLst/>
          </a:prstGeom>
          <a:solidFill>
            <a:srgbClr val="D6E4F0"/>
          </a:solidFill>
          <a:ln w="15875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Intent</a:t>
            </a:r>
          </a:p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Analysis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decompose /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6003" y="1143000"/>
            <a:ext cx="1371600" cy="960120"/>
          </a:xfrm>
          <a:prstGeom prst="roundRect">
            <a:avLst/>
          </a:prstGeom>
          <a:solidFill>
            <a:srgbClr val="D6E4F0"/>
          </a:solidFill>
          <a:ln w="15875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Service</a:t>
            </a:r>
          </a:p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Mapping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+ arg / enum resolve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1844" y="1143000"/>
            <a:ext cx="1371600" cy="960120"/>
          </a:xfrm>
          <a:prstGeom prst="roundRect">
            <a:avLst/>
          </a:prstGeom>
          <a:solidFill>
            <a:srgbClr val="D6E4F0"/>
          </a:solidFill>
          <a:ln w="15875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Device</a:t>
            </a:r>
          </a:p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Mapping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selector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7686" y="1143000"/>
            <a:ext cx="1371600" cy="9601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Timeline IR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extract</a:t>
            </a:r>
          </a:p>
        </p:txBody>
      </p:sp>
      <p:sp>
        <p:nvSpPr>
          <p:cNvPr id="9" name="Hexagon 8"/>
          <p:cNvSpPr/>
          <p:nvPr/>
        </p:nvSpPr>
        <p:spPr>
          <a:xfrm>
            <a:off x="7653528" y="1143000"/>
            <a:ext cx="1371600" cy="960120"/>
          </a:xfrm>
          <a:prstGeom prst="hexagon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Feasibility</a:t>
            </a:r>
          </a:p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Gate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IR ∈ L(G)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29369" y="1143000"/>
            <a:ext cx="1371600" cy="960120"/>
          </a:xfrm>
          <a:prstGeom prst="roundRect">
            <a:avLst/>
          </a:prstGeom>
          <a:solidFill>
            <a:srgbClr val="E2D4F0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User</a:t>
            </a:r>
          </a:p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Confirm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plain-language
rendering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5211" y="1143000"/>
            <a:ext cx="1371600" cy="960120"/>
          </a:xfrm>
          <a:prstGeom prst="roundRect">
            <a:avLst/>
          </a:prstGeom>
          <a:solidFill>
            <a:srgbClr val="D6E4F0"/>
          </a:solidFill>
          <a:ln w="15875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JoI</a:t>
            </a:r>
          </a:p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Generation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lowering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8011" y="4892040"/>
            <a:ext cx="1828800" cy="96012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L1 Static Check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JoI well-formedness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2051" y="4892040"/>
            <a:ext cx="1828800" cy="96012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IR → FSM</a:t>
            </a:r>
          </a:p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+ Event Synthesis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boundary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6091" y="4892040"/>
            <a:ext cx="1828800" cy="96012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IR sim  ‖  JoI sim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execute</a:t>
            </a:r>
          </a:p>
        </p:txBody>
      </p:sp>
      <p:sp>
        <p:nvSpPr>
          <p:cNvPr id="15" name="Hexagon 14"/>
          <p:cNvSpPr/>
          <p:nvPr/>
        </p:nvSpPr>
        <p:spPr>
          <a:xfrm>
            <a:off x="4250131" y="4892040"/>
            <a:ext cx="1691640" cy="960120"/>
          </a:xfrm>
          <a:prstGeom prst="hexagon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Trace-</a:t>
            </a:r>
          </a:p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Equivalence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±tolerance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4211" y="4892040"/>
            <a:ext cx="1417320" cy="960120"/>
          </a:xfrm>
          <a:prstGeom prst="roundRect">
            <a:avLst/>
          </a:prstGeom>
          <a:solidFill>
            <a:srgbClr val="C6E0B4"/>
          </a:solidFill>
          <a:ln w="158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1F1F1F"/>
                </a:solidFill>
                <a:latin typeface="Arial"/>
              </a:rPr>
              <a:t>Deploy ✓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to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834640"/>
            <a:ext cx="1143000" cy="868680"/>
          </a:xfrm>
          <a:prstGeom prst="roundRect">
            <a:avLst/>
          </a:prstGeom>
          <a:solidFill>
            <a:srgbClr val="F8CBAD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Reject</a:t>
            </a:r>
          </a:p>
          <a:p>
            <a:pPr algn="ctr"/>
            <a:r>
              <a:rPr sz="800" b="0" i="1">
                <a:solidFill>
                  <a:srgbClr val="1F1F1F"/>
                </a:solidFill>
                <a:latin typeface="Arial"/>
              </a:rPr>
              <a:t>fail-closed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1623060"/>
            <a:ext cx="10424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21761" y="1623060"/>
            <a:ext cx="10424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97603" y="1623060"/>
            <a:ext cx="10424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73444" y="1623060"/>
            <a:ext cx="10424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9286" y="1623060"/>
            <a:ext cx="10424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25128" y="1623060"/>
            <a:ext cx="10424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00969" y="1623060"/>
            <a:ext cx="10424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062411" y="2103120"/>
            <a:ext cx="228600" cy="2788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833811" y="3387851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595959"/>
                </a:solidFill>
                <a:latin typeface="Arial"/>
              </a:rPr>
              <a:t>JoI code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9096451" y="2103120"/>
            <a:ext cx="718718" cy="27889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266529" y="2560320"/>
            <a:ext cx="11887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595959"/>
                </a:solidFill>
                <a:latin typeface="Arial"/>
              </a:rPr>
              <a:t>confirmed IR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0010851" y="5372100"/>
            <a:ext cx="137160" cy="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044891" y="5372100"/>
            <a:ext cx="137160" cy="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941771" y="5372100"/>
            <a:ext cx="274320" cy="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021531" y="5372100"/>
            <a:ext cx="228600" cy="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747211" y="46177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375623"/>
                </a:solidFill>
                <a:latin typeface="Arial"/>
              </a:rPr>
              <a:t>pass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5095951" y="2103120"/>
            <a:ext cx="6195060" cy="2788920"/>
          </a:xfrm>
          <a:prstGeom prst="line">
            <a:avLst/>
          </a:prstGeom>
          <a:ln w="22225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553401" y="3246120"/>
            <a:ext cx="23774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C55A11"/>
                </a:solidFill>
                <a:latin typeface="Arial"/>
              </a:rPr>
              <a:t>repair: regenerate JoI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3401" y="3456432"/>
            <a:ext cx="23774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C55A11"/>
                </a:solidFill>
                <a:latin typeface="Arial"/>
              </a:rPr>
              <a:t>(counterexample)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417320" y="2103120"/>
            <a:ext cx="6922008" cy="1165860"/>
          </a:xfrm>
          <a:prstGeom prst="line">
            <a:avLst/>
          </a:prstGeom>
          <a:ln w="19050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45820" y="3703320"/>
            <a:ext cx="3404311" cy="1668780"/>
          </a:xfrm>
          <a:prstGeom prst="line">
            <a:avLst/>
          </a:prstGeom>
          <a:ln w="19050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333488" y="2148839"/>
            <a:ext cx="7315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C00000"/>
                </a:solidFill>
                <a:latin typeface="Arial"/>
              </a:rPr>
              <a:t>fail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